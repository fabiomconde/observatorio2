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754" autoAdjust="0"/>
    <p:restoredTop sz="94660"/>
  </p:normalViewPr>
  <p:slideViewPr>
    <p:cSldViewPr snapToGrid="0" snapToObjects="1">
      <p:cViewPr>
        <p:scale>
          <a:sx n="60" d="100"/>
          <a:sy n="60" d="100"/>
        </p:scale>
        <p:origin x="2021" y="4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60120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2B45"/>
                </a:solidFill>
                <a:latin typeface="Aptos Display"/>
              </a:rPr>
              <a:t>Observatório de Conflitos
Socioambientais e Direitos Humanos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17520"/>
            <a:ext cx="8046720" cy="82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rPr lang="pt-BR" dirty="0"/>
              <a:t>Apresentação geral</a:t>
            </a:r>
            <a:endParaRPr dirty="0"/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rPr dirty="0"/>
              <a:t>Porto Velho • </a:t>
            </a:r>
            <a:r>
              <a:rPr dirty="0" err="1"/>
              <a:t>pesquisa</a:t>
            </a:r>
            <a:r>
              <a:rPr dirty="0"/>
              <a:t> • </a:t>
            </a:r>
            <a:r>
              <a:rPr dirty="0" err="1"/>
              <a:t>formação</a:t>
            </a:r>
            <a:r>
              <a:rPr dirty="0"/>
              <a:t> </a:t>
            </a:r>
            <a:r>
              <a:rPr dirty="0" err="1"/>
              <a:t>engajada</a:t>
            </a:r>
            <a:r>
              <a:rPr dirty="0"/>
              <a:t> • </a:t>
            </a:r>
            <a:r>
              <a:rPr dirty="0" err="1"/>
              <a:t>incidência</a:t>
            </a:r>
            <a:r>
              <a:rPr dirty="0"/>
              <a:t> </a:t>
            </a:r>
            <a:r>
              <a:rPr dirty="0" err="1"/>
              <a:t>política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6E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5"/>
                </a:solidFill>
                <a:latin typeface="Aptos Display"/>
              </a:rPr>
              <a:t>O que é o Observatório?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07592"/>
            <a:ext cx="10972800" cy="18288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6E"/>
                </a:solidFill>
                <a:latin typeface="Apto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dirty="0"/>
              <a:t>Uma </a:t>
            </a:r>
            <a:r>
              <a:rPr dirty="0" err="1"/>
              <a:t>iniciativa</a:t>
            </a:r>
            <a:r>
              <a:rPr dirty="0"/>
              <a:t> de </a:t>
            </a:r>
            <a:r>
              <a:rPr dirty="0" err="1"/>
              <a:t>pesquisa</a:t>
            </a:r>
            <a:r>
              <a:rPr dirty="0"/>
              <a:t>, </a:t>
            </a:r>
            <a:r>
              <a:rPr dirty="0" err="1"/>
              <a:t>formação</a:t>
            </a:r>
            <a:r>
              <a:rPr dirty="0"/>
              <a:t> </a:t>
            </a:r>
            <a:r>
              <a:rPr dirty="0" err="1"/>
              <a:t>engajada</a:t>
            </a:r>
            <a:r>
              <a:rPr dirty="0"/>
              <a:t> e </a:t>
            </a:r>
            <a:r>
              <a:rPr dirty="0" err="1"/>
              <a:t>incidência</a:t>
            </a:r>
            <a:r>
              <a:rPr dirty="0"/>
              <a:t> </a:t>
            </a:r>
            <a:r>
              <a:rPr dirty="0" err="1"/>
              <a:t>política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dirty="0"/>
              <a:t>Seu </a:t>
            </a:r>
            <a:r>
              <a:rPr dirty="0" err="1"/>
              <a:t>objeto</a:t>
            </a:r>
            <a:r>
              <a:rPr dirty="0"/>
              <a:t> central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conflitos</a:t>
            </a:r>
            <a:r>
              <a:rPr dirty="0"/>
              <a:t> </a:t>
            </a:r>
            <a:r>
              <a:rPr dirty="0" err="1"/>
              <a:t>socioambientais</a:t>
            </a:r>
            <a:r>
              <a:rPr dirty="0"/>
              <a:t> e as </a:t>
            </a:r>
            <a:r>
              <a:rPr dirty="0" err="1"/>
              <a:t>condições</a:t>
            </a:r>
            <a:r>
              <a:rPr dirty="0"/>
              <a:t> de </a:t>
            </a:r>
            <a:r>
              <a:rPr dirty="0" err="1"/>
              <a:t>acesso</a:t>
            </a:r>
            <a:r>
              <a:rPr dirty="0"/>
              <a:t> </a:t>
            </a:r>
            <a:r>
              <a:rPr dirty="0" err="1"/>
              <a:t>aos</a:t>
            </a:r>
            <a:r>
              <a:rPr dirty="0"/>
              <a:t> </a:t>
            </a:r>
            <a:r>
              <a:rPr dirty="0" err="1"/>
              <a:t>direitos</a:t>
            </a:r>
            <a:r>
              <a:rPr dirty="0"/>
              <a:t> </a:t>
            </a:r>
            <a:r>
              <a:rPr dirty="0" err="1"/>
              <a:t>humanos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Porto Velho.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conflitos</a:t>
            </a:r>
            <a:r>
              <a:rPr dirty="0"/>
              <a:t> </a:t>
            </a:r>
            <a:r>
              <a:rPr dirty="0" err="1"/>
              <a:t>agrários</a:t>
            </a:r>
            <a:r>
              <a:rPr dirty="0"/>
              <a:t>, </a:t>
            </a:r>
            <a:r>
              <a:rPr dirty="0" err="1"/>
              <a:t>fundiários</a:t>
            </a:r>
            <a:r>
              <a:rPr dirty="0"/>
              <a:t>, </a:t>
            </a:r>
            <a:r>
              <a:rPr dirty="0" err="1"/>
              <a:t>territoriais</a:t>
            </a:r>
            <a:r>
              <a:rPr dirty="0"/>
              <a:t> e </a:t>
            </a:r>
            <a:r>
              <a:rPr dirty="0" err="1"/>
              <a:t>ambientais</a:t>
            </a:r>
            <a:r>
              <a:rPr dirty="0"/>
              <a:t> </a:t>
            </a:r>
            <a:r>
              <a:rPr dirty="0" err="1"/>
              <a:t>orientam</a:t>
            </a:r>
            <a:r>
              <a:rPr dirty="0"/>
              <a:t> a </a:t>
            </a:r>
            <a:r>
              <a:rPr dirty="0" err="1"/>
              <a:t>investigação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dirty="0"/>
              <a:t>As </a:t>
            </a:r>
            <a:r>
              <a:rPr dirty="0" err="1"/>
              <a:t>políticas</a:t>
            </a:r>
            <a:r>
              <a:rPr dirty="0"/>
              <a:t> </a:t>
            </a:r>
            <a:r>
              <a:rPr dirty="0" err="1"/>
              <a:t>públicas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analisadas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sua</a:t>
            </a:r>
            <a:r>
              <a:rPr dirty="0"/>
              <a:t> </a:t>
            </a:r>
            <a:r>
              <a:rPr dirty="0" err="1"/>
              <a:t>relação</a:t>
            </a:r>
            <a:r>
              <a:rPr dirty="0"/>
              <a:t> com </a:t>
            </a:r>
            <a:r>
              <a:rPr dirty="0" err="1"/>
              <a:t>prevenção</a:t>
            </a:r>
            <a:r>
              <a:rPr dirty="0"/>
              <a:t>, </a:t>
            </a:r>
            <a:r>
              <a:rPr dirty="0" err="1"/>
              <a:t>agravamento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resposta</a:t>
            </a:r>
            <a:r>
              <a:rPr dirty="0"/>
              <a:t> </a:t>
            </a:r>
            <a:r>
              <a:rPr dirty="0" err="1"/>
              <a:t>institucional</a:t>
            </a:r>
            <a:r>
              <a:rPr dirty="0"/>
              <a:t> </a:t>
            </a:r>
            <a:r>
              <a:rPr dirty="0" err="1"/>
              <a:t>aos</a:t>
            </a:r>
            <a:r>
              <a:rPr dirty="0"/>
              <a:t> </a:t>
            </a:r>
            <a:r>
              <a:rPr dirty="0" err="1"/>
              <a:t>conflitos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dirty="0" err="1"/>
              <a:t>Finalidade</a:t>
            </a:r>
            <a:r>
              <a:rPr dirty="0"/>
              <a:t> </a:t>
            </a:r>
            <a:r>
              <a:rPr dirty="0" err="1"/>
              <a:t>pública</a:t>
            </a:r>
            <a:r>
              <a:rPr dirty="0"/>
              <a:t>: </a:t>
            </a:r>
            <a:r>
              <a:rPr dirty="0" err="1"/>
              <a:t>transformar</a:t>
            </a:r>
            <a:r>
              <a:rPr dirty="0"/>
              <a:t> dados </a:t>
            </a:r>
            <a:r>
              <a:rPr dirty="0" err="1"/>
              <a:t>dispersos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conhecimento</a:t>
            </a:r>
            <a:r>
              <a:rPr dirty="0"/>
              <a:t> </a:t>
            </a:r>
            <a:r>
              <a:rPr dirty="0" err="1"/>
              <a:t>socialmente</a:t>
            </a:r>
            <a:r>
              <a:rPr dirty="0"/>
              <a:t> </a:t>
            </a:r>
            <a:r>
              <a:rPr dirty="0" err="1"/>
              <a:t>relevante</a:t>
            </a:r>
            <a:r>
              <a:rPr dirty="0"/>
              <a:t> e </a:t>
            </a:r>
            <a:r>
              <a:rPr dirty="0" err="1"/>
              <a:t>útil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controle</a:t>
            </a:r>
            <a:r>
              <a:rPr dirty="0"/>
              <a:t> social e </a:t>
            </a:r>
            <a:r>
              <a:rPr dirty="0" err="1"/>
              <a:t>às</a:t>
            </a:r>
            <a:r>
              <a:rPr dirty="0"/>
              <a:t> </a:t>
            </a:r>
            <a:r>
              <a:rPr dirty="0" err="1"/>
              <a:t>políticas</a:t>
            </a:r>
            <a:r>
              <a:rPr dirty="0"/>
              <a:t> </a:t>
            </a:r>
            <a:r>
              <a:rPr dirty="0" err="1"/>
              <a:t>públicas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5"/>
                </a:solidFill>
                <a:latin typeface="Aptos Display"/>
              </a:rPr>
              <a:t>Objetivo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96E"/>
                </a:solidFill>
                <a:latin typeface="Aptos"/>
              </a:rPr>
              <a:t>Governança, método, dados, comunicação e incidência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10972800" cy="18288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6E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698480" cy="2593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  <a:latin typeface="Aptos"/>
              </a:defRPr>
            </a:pPr>
            <a:r>
              <a:rPr dirty="0" err="1"/>
              <a:t>Estabelecer</a:t>
            </a:r>
            <a:r>
              <a:rPr dirty="0"/>
              <a:t> a </a:t>
            </a:r>
            <a:r>
              <a:rPr dirty="0" err="1"/>
              <a:t>estrutura</a:t>
            </a:r>
            <a:r>
              <a:rPr dirty="0"/>
              <a:t> de </a:t>
            </a:r>
            <a:r>
              <a:rPr dirty="0" err="1"/>
              <a:t>governança</a:t>
            </a:r>
            <a:r>
              <a:rPr dirty="0"/>
              <a:t>, </a:t>
            </a:r>
            <a:r>
              <a:rPr dirty="0" err="1"/>
              <a:t>coordenação</a:t>
            </a:r>
            <a:r>
              <a:rPr dirty="0"/>
              <a:t> e </a:t>
            </a:r>
            <a:r>
              <a:rPr dirty="0" err="1"/>
              <a:t>execução</a:t>
            </a:r>
            <a:r>
              <a:rPr dirty="0"/>
              <a:t> do </a:t>
            </a:r>
            <a:r>
              <a:rPr dirty="0" err="1"/>
              <a:t>Observatório</a:t>
            </a:r>
            <a:r>
              <a:rPr dirty="0"/>
              <a:t>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  <a:latin typeface="Aptos"/>
              </a:defRPr>
            </a:pPr>
            <a:r>
              <a:rPr dirty="0" err="1"/>
              <a:t>Definir</a:t>
            </a:r>
            <a:r>
              <a:rPr dirty="0"/>
              <a:t> </a:t>
            </a:r>
            <a:r>
              <a:rPr dirty="0" err="1"/>
              <a:t>competências</a:t>
            </a:r>
            <a:r>
              <a:rPr dirty="0"/>
              <a:t>, </a:t>
            </a:r>
            <a:r>
              <a:rPr dirty="0" err="1"/>
              <a:t>responsabilidades</a:t>
            </a:r>
            <a:r>
              <a:rPr dirty="0"/>
              <a:t>, </a:t>
            </a:r>
            <a:r>
              <a:rPr dirty="0" err="1"/>
              <a:t>fluxos</a:t>
            </a:r>
            <a:r>
              <a:rPr dirty="0"/>
              <a:t> de </a:t>
            </a:r>
            <a:r>
              <a:rPr dirty="0" err="1"/>
              <a:t>trabalho</a:t>
            </a:r>
            <a:r>
              <a:rPr dirty="0"/>
              <a:t> e </a:t>
            </a:r>
            <a:r>
              <a:rPr dirty="0" err="1"/>
              <a:t>procedimentos</a:t>
            </a:r>
            <a:r>
              <a:rPr dirty="0"/>
              <a:t> </a:t>
            </a:r>
            <a:r>
              <a:rPr dirty="0" err="1"/>
              <a:t>metodológicos</a:t>
            </a:r>
            <a:r>
              <a:rPr dirty="0"/>
              <a:t>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  <a:latin typeface="Aptos"/>
              </a:defRPr>
            </a:pPr>
            <a:r>
              <a:rPr dirty="0" err="1"/>
              <a:t>Integrar</a:t>
            </a:r>
            <a:r>
              <a:rPr dirty="0"/>
              <a:t> </a:t>
            </a:r>
            <a:r>
              <a:rPr dirty="0" err="1"/>
              <a:t>pesquisa</a:t>
            </a:r>
            <a:r>
              <a:rPr dirty="0"/>
              <a:t>, </a:t>
            </a:r>
            <a:r>
              <a:rPr dirty="0" err="1"/>
              <a:t>produção</a:t>
            </a:r>
            <a:r>
              <a:rPr dirty="0"/>
              <a:t> de dados, </a:t>
            </a:r>
            <a:r>
              <a:rPr dirty="0" err="1"/>
              <a:t>formação</a:t>
            </a:r>
            <a:r>
              <a:rPr dirty="0"/>
              <a:t> </a:t>
            </a:r>
            <a:r>
              <a:rPr dirty="0" err="1"/>
              <a:t>engajada</a:t>
            </a:r>
            <a:r>
              <a:rPr dirty="0"/>
              <a:t>, </a:t>
            </a:r>
            <a:r>
              <a:rPr dirty="0" err="1"/>
              <a:t>comunicação</a:t>
            </a:r>
            <a:r>
              <a:rPr dirty="0"/>
              <a:t> </a:t>
            </a:r>
            <a:r>
              <a:rPr dirty="0" err="1"/>
              <a:t>científica</a:t>
            </a:r>
            <a:r>
              <a:rPr dirty="0"/>
              <a:t> e </a:t>
            </a:r>
            <a:r>
              <a:rPr dirty="0" err="1"/>
              <a:t>incidência</a:t>
            </a:r>
            <a:r>
              <a:rPr dirty="0"/>
              <a:t> </a:t>
            </a:r>
            <a:r>
              <a:rPr dirty="0" err="1"/>
              <a:t>política</a:t>
            </a:r>
            <a:r>
              <a:rPr dirty="0"/>
              <a:t>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  <a:latin typeface="Aptos"/>
              </a:defRPr>
            </a:pPr>
            <a:r>
              <a:rPr dirty="0" err="1"/>
              <a:t>Organizar</a:t>
            </a:r>
            <a:r>
              <a:rPr dirty="0"/>
              <a:t> </a:t>
            </a:r>
            <a:r>
              <a:rPr dirty="0" err="1"/>
              <a:t>mecanismos</a:t>
            </a:r>
            <a:r>
              <a:rPr dirty="0"/>
              <a:t> de </a:t>
            </a:r>
            <a:r>
              <a:rPr dirty="0" err="1"/>
              <a:t>acompanhamento</a:t>
            </a:r>
            <a:r>
              <a:rPr dirty="0"/>
              <a:t> </a:t>
            </a:r>
            <a:r>
              <a:rPr dirty="0" err="1"/>
              <a:t>capazes</a:t>
            </a:r>
            <a:r>
              <a:rPr dirty="0"/>
              <a:t> de </a:t>
            </a:r>
            <a:r>
              <a:rPr dirty="0" err="1"/>
              <a:t>sustentar</a:t>
            </a:r>
            <a:r>
              <a:rPr dirty="0"/>
              <a:t> o </a:t>
            </a:r>
            <a:r>
              <a:rPr dirty="0" err="1"/>
              <a:t>monitoramento</a:t>
            </a:r>
            <a:r>
              <a:rPr dirty="0"/>
              <a:t> </a:t>
            </a:r>
            <a:r>
              <a:rPr dirty="0" err="1"/>
              <a:t>continuado</a:t>
            </a:r>
            <a:r>
              <a:rPr dirty="0"/>
              <a:t> dos </a:t>
            </a:r>
            <a:r>
              <a:rPr dirty="0" err="1"/>
              <a:t>conflitos</a:t>
            </a:r>
            <a:r>
              <a:rPr dirty="0"/>
              <a:t> </a:t>
            </a:r>
            <a:r>
              <a:rPr dirty="0" err="1"/>
              <a:t>socioambientais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5"/>
                </a:solidFill>
                <a:latin typeface="Aptos Display"/>
              </a:rPr>
              <a:t>Objetivos específicos: o que precisa ser construído?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07592"/>
            <a:ext cx="10972800" cy="18288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6E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2500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 err="1"/>
              <a:t>Organização</a:t>
            </a:r>
            <a:r>
              <a:rPr dirty="0"/>
              <a:t> </a:t>
            </a:r>
            <a:r>
              <a:rPr dirty="0" err="1"/>
              <a:t>institucional</a:t>
            </a:r>
            <a:r>
              <a:rPr dirty="0"/>
              <a:t> </a:t>
            </a:r>
            <a:r>
              <a:rPr dirty="0" err="1"/>
              <a:t>integrada</a:t>
            </a:r>
            <a:r>
              <a:rPr dirty="0"/>
              <a:t> entre </a:t>
            </a:r>
            <a:r>
              <a:rPr dirty="0" err="1"/>
              <a:t>coordenações</a:t>
            </a:r>
            <a:r>
              <a:rPr dirty="0"/>
              <a:t>, </a:t>
            </a:r>
            <a:r>
              <a:rPr dirty="0" err="1"/>
              <a:t>bolsistas</a:t>
            </a:r>
            <a:r>
              <a:rPr dirty="0"/>
              <a:t> e </a:t>
            </a:r>
            <a:r>
              <a:rPr dirty="0" err="1"/>
              <a:t>apoio</a:t>
            </a:r>
            <a:r>
              <a:rPr dirty="0"/>
              <a:t> </a:t>
            </a:r>
            <a:r>
              <a:rPr dirty="0" err="1"/>
              <a:t>técnico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 err="1"/>
              <a:t>Procedimentos</a:t>
            </a:r>
            <a:r>
              <a:rPr dirty="0"/>
              <a:t> </a:t>
            </a:r>
            <a:r>
              <a:rPr dirty="0" err="1"/>
              <a:t>padronizados</a:t>
            </a:r>
            <a:r>
              <a:rPr dirty="0"/>
              <a:t> de coleta, </a:t>
            </a:r>
            <a:r>
              <a:rPr dirty="0" err="1"/>
              <a:t>organização</a:t>
            </a:r>
            <a:r>
              <a:rPr dirty="0"/>
              <a:t>, </a:t>
            </a:r>
            <a:r>
              <a:rPr dirty="0" err="1"/>
              <a:t>validação</a:t>
            </a:r>
            <a:r>
              <a:rPr dirty="0"/>
              <a:t>, </a:t>
            </a:r>
            <a:r>
              <a:rPr dirty="0" err="1"/>
              <a:t>atualização</a:t>
            </a:r>
            <a:r>
              <a:rPr dirty="0"/>
              <a:t>, </a:t>
            </a:r>
            <a:r>
              <a:rPr dirty="0" err="1"/>
              <a:t>análise</a:t>
            </a:r>
            <a:r>
              <a:rPr dirty="0"/>
              <a:t> e </a:t>
            </a:r>
            <a:r>
              <a:rPr dirty="0" err="1"/>
              <a:t>georreferenciamento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Banco de dados </a:t>
            </a:r>
            <a:r>
              <a:rPr dirty="0" err="1"/>
              <a:t>estruturado</a:t>
            </a:r>
            <a:r>
              <a:rPr dirty="0"/>
              <a:t> a </a:t>
            </a:r>
            <a:r>
              <a:rPr dirty="0" err="1"/>
              <a:t>partir</a:t>
            </a:r>
            <a:r>
              <a:rPr dirty="0"/>
              <a:t> de </a:t>
            </a:r>
            <a:r>
              <a:rPr dirty="0" err="1"/>
              <a:t>cinco</a:t>
            </a:r>
            <a:r>
              <a:rPr dirty="0"/>
              <a:t> </a:t>
            </a:r>
            <a:r>
              <a:rPr dirty="0" err="1"/>
              <a:t>eixos</a:t>
            </a:r>
            <a:r>
              <a:rPr dirty="0"/>
              <a:t> </a:t>
            </a:r>
            <a:r>
              <a:rPr dirty="0" err="1"/>
              <a:t>estratégicos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 err="1"/>
              <a:t>Análise</a:t>
            </a:r>
            <a:r>
              <a:rPr dirty="0"/>
              <a:t> transversal de </a:t>
            </a:r>
            <a:r>
              <a:rPr dirty="0" err="1"/>
              <a:t>racismo</a:t>
            </a:r>
            <a:r>
              <a:rPr dirty="0"/>
              <a:t> </a:t>
            </a:r>
            <a:r>
              <a:rPr dirty="0" err="1"/>
              <a:t>ambiental</a:t>
            </a:r>
            <a:r>
              <a:rPr dirty="0"/>
              <a:t>, </a:t>
            </a:r>
            <a:r>
              <a:rPr dirty="0" err="1"/>
              <a:t>justiça</a:t>
            </a:r>
            <a:r>
              <a:rPr dirty="0"/>
              <a:t> </a:t>
            </a:r>
            <a:r>
              <a:rPr dirty="0" err="1"/>
              <a:t>climática</a:t>
            </a:r>
            <a:r>
              <a:rPr dirty="0"/>
              <a:t>, </a:t>
            </a:r>
            <a:r>
              <a:rPr dirty="0" err="1"/>
              <a:t>gênero</a:t>
            </a:r>
            <a:r>
              <a:rPr dirty="0"/>
              <a:t>, </a:t>
            </a:r>
            <a:r>
              <a:rPr dirty="0" err="1"/>
              <a:t>raça</a:t>
            </a:r>
            <a:r>
              <a:rPr dirty="0"/>
              <a:t>, </a:t>
            </a:r>
            <a:r>
              <a:rPr dirty="0" err="1"/>
              <a:t>pertencimento</a:t>
            </a:r>
            <a:r>
              <a:rPr dirty="0"/>
              <a:t> </a:t>
            </a:r>
            <a:r>
              <a:rPr dirty="0" err="1"/>
              <a:t>étnico</a:t>
            </a:r>
            <a:r>
              <a:rPr dirty="0"/>
              <a:t>, </a:t>
            </a:r>
            <a:r>
              <a:rPr dirty="0" err="1"/>
              <a:t>classe</a:t>
            </a:r>
            <a:r>
              <a:rPr dirty="0"/>
              <a:t> e </a:t>
            </a:r>
            <a:r>
              <a:rPr dirty="0" err="1"/>
              <a:t>desigualdade</a:t>
            </a:r>
            <a:r>
              <a:rPr dirty="0"/>
              <a:t> territorial.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 err="1"/>
              <a:t>Monitoramento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cronogramas</a:t>
            </a:r>
            <a:r>
              <a:rPr dirty="0"/>
              <a:t>, </a:t>
            </a:r>
            <a:r>
              <a:rPr dirty="0" err="1"/>
              <a:t>produtos</a:t>
            </a:r>
            <a:r>
              <a:rPr dirty="0"/>
              <a:t>, </a:t>
            </a:r>
            <a:r>
              <a:rPr dirty="0" err="1"/>
              <a:t>indicadores</a:t>
            </a:r>
            <a:r>
              <a:rPr dirty="0"/>
              <a:t> e </a:t>
            </a:r>
            <a:r>
              <a:rPr dirty="0" err="1"/>
              <a:t>responsabilidades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 err="1"/>
              <a:t>Articulação</a:t>
            </a:r>
            <a:r>
              <a:rPr dirty="0"/>
              <a:t> entre </a:t>
            </a:r>
            <a:r>
              <a:rPr dirty="0" err="1"/>
              <a:t>pesquisa</a:t>
            </a:r>
            <a:r>
              <a:rPr dirty="0"/>
              <a:t>, </a:t>
            </a:r>
            <a:r>
              <a:rPr dirty="0" err="1"/>
              <a:t>extensão</a:t>
            </a:r>
            <a:r>
              <a:rPr dirty="0"/>
              <a:t>, </a:t>
            </a:r>
            <a:r>
              <a:rPr dirty="0" err="1"/>
              <a:t>comunicação</a:t>
            </a:r>
            <a:r>
              <a:rPr dirty="0"/>
              <a:t> </a:t>
            </a:r>
            <a:r>
              <a:rPr dirty="0" err="1"/>
              <a:t>pública</a:t>
            </a:r>
            <a:r>
              <a:rPr dirty="0"/>
              <a:t> da </a:t>
            </a:r>
            <a:r>
              <a:rPr dirty="0" err="1"/>
              <a:t>ciência</a:t>
            </a:r>
            <a:r>
              <a:rPr dirty="0"/>
              <a:t> e </a:t>
            </a:r>
            <a:r>
              <a:rPr dirty="0" err="1"/>
              <a:t>incidência</a:t>
            </a:r>
            <a:r>
              <a:rPr dirty="0"/>
              <a:t> </a:t>
            </a:r>
            <a:r>
              <a:rPr dirty="0" err="1"/>
              <a:t>política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5"/>
                </a:solidFill>
                <a:latin typeface="Aptos Display"/>
              </a:rPr>
              <a:t>Princípios orientadores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07592"/>
            <a:ext cx="10972800" cy="18288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6E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 err="1"/>
              <a:t>Centralidade</a:t>
            </a:r>
            <a:r>
              <a:rPr dirty="0"/>
              <a:t> dos </a:t>
            </a:r>
            <a:r>
              <a:rPr dirty="0" err="1"/>
              <a:t>conflitos</a:t>
            </a:r>
            <a:r>
              <a:rPr dirty="0"/>
              <a:t> </a:t>
            </a:r>
            <a:r>
              <a:rPr dirty="0" err="1"/>
              <a:t>socioambientais</a:t>
            </a:r>
            <a:r>
              <a:rPr dirty="0"/>
              <a:t> e dos </a:t>
            </a:r>
            <a:r>
              <a:rPr dirty="0" err="1"/>
              <a:t>direitos</a:t>
            </a:r>
            <a:r>
              <a:rPr dirty="0"/>
              <a:t> </a:t>
            </a:r>
            <a:r>
              <a:rPr dirty="0" err="1"/>
              <a:t>humanos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Justiça </a:t>
            </a:r>
            <a:r>
              <a:rPr dirty="0" err="1"/>
              <a:t>climática</a:t>
            </a:r>
            <a:r>
              <a:rPr dirty="0"/>
              <a:t>, </a:t>
            </a:r>
            <a:r>
              <a:rPr dirty="0" err="1"/>
              <a:t>racismo</a:t>
            </a:r>
            <a:r>
              <a:rPr dirty="0"/>
              <a:t> </a:t>
            </a:r>
            <a:r>
              <a:rPr dirty="0" err="1"/>
              <a:t>ambiental</a:t>
            </a:r>
            <a:r>
              <a:rPr dirty="0"/>
              <a:t> e </a:t>
            </a:r>
            <a:r>
              <a:rPr dirty="0" err="1"/>
              <a:t>desigualdades</a:t>
            </a:r>
            <a:r>
              <a:rPr dirty="0"/>
              <a:t> </a:t>
            </a:r>
            <a:r>
              <a:rPr dirty="0" err="1"/>
              <a:t>interseccionais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 err="1"/>
              <a:t>Territorialidade</a:t>
            </a:r>
            <a:r>
              <a:rPr dirty="0"/>
              <a:t> e </a:t>
            </a:r>
            <a:r>
              <a:rPr dirty="0" err="1"/>
              <a:t>leitura</a:t>
            </a:r>
            <a:r>
              <a:rPr dirty="0"/>
              <a:t> </a:t>
            </a:r>
            <a:r>
              <a:rPr dirty="0" err="1"/>
              <a:t>integrada</a:t>
            </a:r>
            <a:r>
              <a:rPr dirty="0"/>
              <a:t> do </a:t>
            </a:r>
            <a:r>
              <a:rPr dirty="0" err="1"/>
              <a:t>espaço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 err="1"/>
              <a:t>Produção</a:t>
            </a:r>
            <a:r>
              <a:rPr dirty="0"/>
              <a:t> de </a:t>
            </a:r>
            <a:r>
              <a:rPr dirty="0" err="1"/>
              <a:t>conhecimento</a:t>
            </a:r>
            <a:r>
              <a:rPr dirty="0"/>
              <a:t> </a:t>
            </a:r>
            <a:r>
              <a:rPr dirty="0" err="1"/>
              <a:t>baseada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evidências</a:t>
            </a:r>
            <a:r>
              <a:rPr dirty="0"/>
              <a:t> e </a:t>
            </a:r>
            <a:r>
              <a:rPr dirty="0" err="1"/>
              <a:t>rastreabilidade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 err="1"/>
              <a:t>Integração</a:t>
            </a:r>
            <a:r>
              <a:rPr dirty="0"/>
              <a:t> </a:t>
            </a:r>
            <a:r>
              <a:rPr dirty="0" err="1"/>
              <a:t>interdisciplinar</a:t>
            </a:r>
            <a:r>
              <a:rPr dirty="0"/>
              <a:t> e </a:t>
            </a:r>
            <a:r>
              <a:rPr dirty="0" err="1"/>
              <a:t>trabalho</a:t>
            </a:r>
            <a:r>
              <a:rPr dirty="0"/>
              <a:t> </a:t>
            </a:r>
            <a:r>
              <a:rPr dirty="0" err="1"/>
              <a:t>colaborativo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 err="1"/>
              <a:t>Transparência</a:t>
            </a:r>
            <a:r>
              <a:rPr dirty="0"/>
              <a:t>, </a:t>
            </a:r>
            <a:r>
              <a:rPr dirty="0" err="1"/>
              <a:t>ética</a:t>
            </a:r>
            <a:r>
              <a:rPr dirty="0"/>
              <a:t> e </a:t>
            </a:r>
            <a:r>
              <a:rPr dirty="0" err="1"/>
              <a:t>responsabilidade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gestão</a:t>
            </a:r>
            <a:r>
              <a:rPr dirty="0"/>
              <a:t> da </a:t>
            </a:r>
            <a:r>
              <a:rPr dirty="0" err="1"/>
              <a:t>informação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 err="1"/>
              <a:t>Incidência</a:t>
            </a:r>
            <a:r>
              <a:rPr dirty="0"/>
              <a:t> </a:t>
            </a:r>
            <a:r>
              <a:rPr dirty="0" err="1"/>
              <a:t>política</a:t>
            </a:r>
            <a:r>
              <a:rPr dirty="0"/>
              <a:t> e </a:t>
            </a:r>
            <a:r>
              <a:rPr dirty="0" err="1"/>
              <a:t>compromisso</a:t>
            </a:r>
            <a:r>
              <a:rPr dirty="0"/>
              <a:t> com a </a:t>
            </a:r>
            <a:r>
              <a:rPr dirty="0" err="1"/>
              <a:t>transformação</a:t>
            </a:r>
            <a:r>
              <a:rPr dirty="0"/>
              <a:t> social.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5"/>
                </a:solidFill>
                <a:latin typeface="Aptos Display"/>
              </a:rPr>
              <a:t>Modelo conceitual do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96E"/>
                </a:solidFill>
                <a:latin typeface="Aptos"/>
              </a:rPr>
              <a:t>Os cinco eixos são dimensões interdependentes de um mesmo fenômeno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10972800" cy="18288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6E"/>
                </a:solidFill>
                <a:latin typeface="Aptos"/>
              </a:rPr>
              <a:t>6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2D76F1E-7983-7ACD-70DA-779DC9D41F4A}"/>
              </a:ext>
            </a:extLst>
          </p:cNvPr>
          <p:cNvSpPr txBox="1"/>
          <p:nvPr/>
        </p:nvSpPr>
        <p:spPr>
          <a:xfrm>
            <a:off x="2624918" y="1526795"/>
            <a:ext cx="6096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ctr">
              <a:lnSpc>
                <a:spcPct val="100000"/>
              </a:lnSpc>
              <a:spcBef>
                <a:spcPts val="1600"/>
              </a:spcBef>
              <a:spcAft>
                <a:spcPts val="400"/>
              </a:spcAft>
              <a:buNone/>
            </a:pP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Figura 01 - Esquema Conceitual do Projeto</a:t>
            </a:r>
            <a:endParaRPr lang="pt-BR" sz="1400" b="1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57B3C7D-E60A-D5F5-3D9D-55FF970F3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0"/>
            <a:ext cx="1021455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5"/>
                </a:solidFill>
                <a:latin typeface="Aptos Display"/>
              </a:rPr>
              <a:t>A lógica de produção do conhecimento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07592"/>
            <a:ext cx="10972800" cy="18288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6E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927080" cy="2500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Fontes de dados → coleta e </a:t>
            </a:r>
            <a:r>
              <a:rPr dirty="0" err="1"/>
              <a:t>organização</a:t>
            </a:r>
            <a:r>
              <a:rPr dirty="0"/>
              <a:t> → </a:t>
            </a:r>
            <a:r>
              <a:rPr dirty="0" err="1"/>
              <a:t>validação</a:t>
            </a:r>
            <a:r>
              <a:rPr dirty="0"/>
              <a:t> e </a:t>
            </a:r>
            <a:r>
              <a:rPr dirty="0" err="1"/>
              <a:t>padronização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Banco de dados </a:t>
            </a:r>
            <a:r>
              <a:rPr dirty="0" err="1"/>
              <a:t>integrado</a:t>
            </a:r>
            <a:r>
              <a:rPr dirty="0"/>
              <a:t> → </a:t>
            </a:r>
            <a:r>
              <a:rPr dirty="0" err="1"/>
              <a:t>indicadores</a:t>
            </a:r>
            <a:r>
              <a:rPr dirty="0"/>
              <a:t> e </a:t>
            </a:r>
            <a:r>
              <a:rPr dirty="0" err="1"/>
              <a:t>inteligência</a:t>
            </a:r>
            <a:r>
              <a:rPr dirty="0"/>
              <a:t> territorial.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 err="1"/>
              <a:t>Boletins</a:t>
            </a:r>
            <a:r>
              <a:rPr dirty="0"/>
              <a:t>, </a:t>
            </a:r>
            <a:r>
              <a:rPr dirty="0" err="1"/>
              <a:t>relatórios</a:t>
            </a:r>
            <a:r>
              <a:rPr dirty="0"/>
              <a:t>, </a:t>
            </a:r>
            <a:r>
              <a:rPr dirty="0" err="1"/>
              <a:t>mapas</a:t>
            </a:r>
            <a:r>
              <a:rPr dirty="0"/>
              <a:t>, </a:t>
            </a:r>
            <a:r>
              <a:rPr dirty="0" err="1"/>
              <a:t>painéis</a:t>
            </a:r>
            <a:r>
              <a:rPr dirty="0"/>
              <a:t>, </a:t>
            </a:r>
            <a:r>
              <a:rPr dirty="0" err="1"/>
              <a:t>notas</a:t>
            </a:r>
            <a:r>
              <a:rPr dirty="0"/>
              <a:t> </a:t>
            </a:r>
            <a:r>
              <a:rPr dirty="0" err="1"/>
              <a:t>técnicas</a:t>
            </a:r>
            <a:r>
              <a:rPr dirty="0"/>
              <a:t> e </a:t>
            </a:r>
            <a:r>
              <a:rPr dirty="0" err="1"/>
              <a:t>artigos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 err="1"/>
              <a:t>Comunicação</a:t>
            </a:r>
            <a:r>
              <a:rPr dirty="0"/>
              <a:t> </a:t>
            </a:r>
            <a:r>
              <a:rPr dirty="0" err="1"/>
              <a:t>pública</a:t>
            </a:r>
            <a:r>
              <a:rPr dirty="0"/>
              <a:t> e </a:t>
            </a:r>
            <a:r>
              <a:rPr dirty="0" err="1"/>
              <a:t>plataforma</a:t>
            </a:r>
            <a:r>
              <a:rPr dirty="0"/>
              <a:t> digital </a:t>
            </a:r>
            <a:r>
              <a:rPr dirty="0" err="1"/>
              <a:t>ampliam</a:t>
            </a:r>
            <a:r>
              <a:rPr dirty="0"/>
              <a:t> </a:t>
            </a:r>
            <a:r>
              <a:rPr dirty="0" err="1"/>
              <a:t>acesso</a:t>
            </a:r>
            <a:r>
              <a:rPr dirty="0"/>
              <a:t> </a:t>
            </a:r>
            <a:r>
              <a:rPr dirty="0" err="1"/>
              <a:t>aos</a:t>
            </a:r>
            <a:r>
              <a:rPr dirty="0"/>
              <a:t> </a:t>
            </a:r>
            <a:r>
              <a:rPr dirty="0" err="1"/>
              <a:t>resultados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 err="1"/>
              <a:t>Incidência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políticas</a:t>
            </a:r>
            <a:r>
              <a:rPr dirty="0"/>
              <a:t> </a:t>
            </a:r>
            <a:r>
              <a:rPr dirty="0" err="1"/>
              <a:t>públicas</a:t>
            </a:r>
            <a:r>
              <a:rPr dirty="0"/>
              <a:t> </a:t>
            </a:r>
            <a:r>
              <a:rPr dirty="0" err="1"/>
              <a:t>fecha</a:t>
            </a:r>
            <a:r>
              <a:rPr dirty="0"/>
              <a:t> o </a:t>
            </a:r>
            <a:r>
              <a:rPr dirty="0" err="1"/>
              <a:t>ciclo</a:t>
            </a:r>
            <a:r>
              <a:rPr dirty="0"/>
              <a:t>: </a:t>
            </a:r>
            <a:r>
              <a:rPr dirty="0" err="1"/>
              <a:t>evidências</a:t>
            </a:r>
            <a:r>
              <a:rPr dirty="0"/>
              <a:t> </a:t>
            </a:r>
            <a:r>
              <a:rPr dirty="0" err="1"/>
              <a:t>subsidiam</a:t>
            </a:r>
            <a:r>
              <a:rPr dirty="0"/>
              <a:t> </a:t>
            </a:r>
            <a:r>
              <a:rPr dirty="0" err="1"/>
              <a:t>pesquisa</a:t>
            </a:r>
            <a:r>
              <a:rPr dirty="0"/>
              <a:t>, </a:t>
            </a:r>
            <a:r>
              <a:rPr dirty="0" err="1"/>
              <a:t>gestão</a:t>
            </a:r>
            <a:r>
              <a:rPr dirty="0"/>
              <a:t> </a:t>
            </a:r>
            <a:r>
              <a:rPr dirty="0" err="1"/>
              <a:t>pública</a:t>
            </a:r>
            <a:r>
              <a:rPr dirty="0"/>
              <a:t>, </a:t>
            </a:r>
            <a:r>
              <a:rPr dirty="0" err="1"/>
              <a:t>controle</a:t>
            </a:r>
            <a:r>
              <a:rPr dirty="0"/>
              <a:t> social e </a:t>
            </a:r>
            <a:r>
              <a:rPr dirty="0" err="1"/>
              <a:t>defesa</a:t>
            </a:r>
            <a:r>
              <a:rPr dirty="0"/>
              <a:t> de </a:t>
            </a:r>
            <a:r>
              <a:rPr dirty="0" err="1"/>
              <a:t>direitos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 err="1"/>
              <a:t>Monitoramento</a:t>
            </a:r>
            <a:r>
              <a:rPr dirty="0"/>
              <a:t> e </a:t>
            </a:r>
            <a:r>
              <a:rPr dirty="0" err="1"/>
              <a:t>avaliação</a:t>
            </a:r>
            <a:r>
              <a:rPr dirty="0"/>
              <a:t> </a:t>
            </a:r>
            <a:r>
              <a:rPr dirty="0" err="1"/>
              <a:t>contínua</a:t>
            </a:r>
            <a:r>
              <a:rPr dirty="0"/>
              <a:t> </a:t>
            </a:r>
            <a:r>
              <a:rPr dirty="0" err="1"/>
              <a:t>retroalimentam</a:t>
            </a:r>
            <a:r>
              <a:rPr dirty="0"/>
              <a:t> </a:t>
            </a:r>
            <a:r>
              <a:rPr dirty="0" err="1"/>
              <a:t>todas</a:t>
            </a:r>
            <a:r>
              <a:rPr dirty="0"/>
              <a:t> as </a:t>
            </a:r>
            <a:r>
              <a:rPr dirty="0" err="1"/>
              <a:t>etapas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08E30B-F944-DE1C-378B-5FAB1A05F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1A2D98-557C-5DB3-5306-D76165A1539F}"/>
              </a:ext>
            </a:extLst>
          </p:cNvPr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5"/>
                </a:solidFill>
                <a:latin typeface="Aptos Display"/>
              </a:rPr>
              <a:t>A lógica de produção do conhecimento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7135B2-DBD9-A7F6-9884-5A2FD58067F6}"/>
              </a:ext>
            </a:extLst>
          </p:cNvPr>
          <p:cNvSpPr/>
          <p:nvPr/>
        </p:nvSpPr>
        <p:spPr>
          <a:xfrm>
            <a:off x="594360" y="1307592"/>
            <a:ext cx="10972800" cy="18288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9C5C68-C66D-D83B-9EA3-44EE34A73D16}"/>
              </a:ext>
            </a:extLst>
          </p:cNvPr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6E"/>
                </a:solidFill>
                <a:latin typeface="Aptos"/>
              </a:rPr>
              <a:t>7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227FC45-9B4B-F9A1-81C3-C8F0B0F3A61B}"/>
              </a:ext>
            </a:extLst>
          </p:cNvPr>
          <p:cNvSpPr txBox="1"/>
          <p:nvPr/>
        </p:nvSpPr>
        <p:spPr>
          <a:xfrm>
            <a:off x="3032760" y="1544218"/>
            <a:ext cx="6096000" cy="33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1600"/>
              </a:spcBef>
              <a:spcAft>
                <a:spcPts val="400"/>
              </a:spcAft>
              <a:buNone/>
            </a:pPr>
            <a:r>
              <a:rPr lang="pt-BR" sz="1800" b="1" dirty="0">
                <a:solidFill>
                  <a:schemeClr val="tx1"/>
                </a:solidFill>
                <a:effectLst/>
                <a:latin typeface="+mn-lt"/>
              </a:rPr>
              <a:t>Figura 4 – Ciclo Operacional do Observatório </a:t>
            </a:r>
            <a:endParaRPr lang="pt-BR" sz="1400" b="1" dirty="0">
              <a:solidFill>
                <a:srgbClr val="434343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image2.png">
            <a:extLst>
              <a:ext uri="{FF2B5EF4-FFF2-40B4-BE49-F238E27FC236}">
                <a16:creationId xmlns:a16="http://schemas.microsoft.com/office/drawing/2014/main" id="{688CA32F-D5AD-1707-E109-43557AF0F25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568249" y="1903132"/>
            <a:ext cx="5055501" cy="460739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524384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5"/>
                </a:solidFill>
                <a:latin typeface="Aptos Display"/>
              </a:rPr>
              <a:t>Governança: integração com responsabilidades claras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07592"/>
            <a:ext cx="10972800" cy="18288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6E"/>
                </a:solidFill>
                <a:latin typeface="Apto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17436"/>
            <a:ext cx="1002497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 err="1"/>
              <a:t>Coordenação</a:t>
            </a:r>
            <a:r>
              <a:rPr dirty="0"/>
              <a:t> Geral: </a:t>
            </a:r>
            <a:r>
              <a:rPr dirty="0" err="1"/>
              <a:t>direção</a:t>
            </a:r>
            <a:r>
              <a:rPr dirty="0"/>
              <a:t> </a:t>
            </a:r>
            <a:r>
              <a:rPr dirty="0" err="1"/>
              <a:t>estratégica</a:t>
            </a:r>
            <a:r>
              <a:rPr dirty="0"/>
              <a:t> e </a:t>
            </a:r>
            <a:r>
              <a:rPr dirty="0" err="1"/>
              <a:t>representação</a:t>
            </a:r>
            <a:r>
              <a:rPr dirty="0"/>
              <a:t> </a:t>
            </a:r>
            <a:r>
              <a:rPr dirty="0" err="1"/>
              <a:t>institucional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 err="1"/>
              <a:t>Coordenação</a:t>
            </a:r>
            <a:r>
              <a:rPr dirty="0"/>
              <a:t> </a:t>
            </a:r>
            <a:r>
              <a:rPr dirty="0" err="1"/>
              <a:t>Adjunta</a:t>
            </a:r>
            <a:r>
              <a:rPr dirty="0"/>
              <a:t>: </a:t>
            </a:r>
            <a:r>
              <a:rPr dirty="0" err="1"/>
              <a:t>método</a:t>
            </a:r>
            <a:r>
              <a:rPr dirty="0"/>
              <a:t>, banco de dados, </a:t>
            </a:r>
            <a:r>
              <a:rPr dirty="0" err="1"/>
              <a:t>validação</a:t>
            </a:r>
            <a:r>
              <a:rPr dirty="0"/>
              <a:t>, </a:t>
            </a:r>
            <a:r>
              <a:rPr dirty="0" err="1"/>
              <a:t>indicadores</a:t>
            </a:r>
            <a:r>
              <a:rPr dirty="0"/>
              <a:t> e </a:t>
            </a:r>
            <a:r>
              <a:rPr dirty="0" err="1"/>
              <a:t>análise</a:t>
            </a:r>
            <a:r>
              <a:rPr dirty="0"/>
              <a:t> territorial.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 err="1"/>
              <a:t>Coordenação</a:t>
            </a:r>
            <a:r>
              <a:rPr dirty="0"/>
              <a:t> da Plataforma: </a:t>
            </a:r>
            <a:r>
              <a:rPr dirty="0" err="1"/>
              <a:t>desenvolvimento</a:t>
            </a:r>
            <a:r>
              <a:rPr dirty="0"/>
              <a:t> e </a:t>
            </a:r>
            <a:r>
              <a:rPr dirty="0" err="1"/>
              <a:t>infraestrutura</a:t>
            </a:r>
            <a:r>
              <a:rPr dirty="0"/>
              <a:t> </a:t>
            </a:r>
            <a:r>
              <a:rPr dirty="0" err="1"/>
              <a:t>tecnológica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 err="1"/>
              <a:t>Coordenação</a:t>
            </a:r>
            <a:r>
              <a:rPr dirty="0"/>
              <a:t> de </a:t>
            </a:r>
            <a:r>
              <a:rPr dirty="0" err="1"/>
              <a:t>Comunicação</a:t>
            </a:r>
            <a:r>
              <a:rPr dirty="0"/>
              <a:t>: </a:t>
            </a:r>
            <a:r>
              <a:rPr dirty="0" err="1"/>
              <a:t>comunicação</a:t>
            </a:r>
            <a:r>
              <a:rPr dirty="0"/>
              <a:t> </a:t>
            </a:r>
            <a:r>
              <a:rPr dirty="0" err="1"/>
              <a:t>institucional</a:t>
            </a:r>
            <a:r>
              <a:rPr dirty="0"/>
              <a:t> e </a:t>
            </a:r>
            <a:r>
              <a:rPr dirty="0" err="1"/>
              <a:t>científica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Equipe </a:t>
            </a:r>
            <a:r>
              <a:rPr dirty="0" err="1"/>
              <a:t>técnica</a:t>
            </a:r>
            <a:r>
              <a:rPr dirty="0"/>
              <a:t> e </a:t>
            </a:r>
            <a:r>
              <a:rPr dirty="0" err="1"/>
              <a:t>apoio</a:t>
            </a:r>
            <a:r>
              <a:rPr dirty="0"/>
              <a:t>: dados </a:t>
            </a:r>
            <a:r>
              <a:rPr dirty="0" err="1"/>
              <a:t>sociais</a:t>
            </a:r>
            <a:r>
              <a:rPr dirty="0"/>
              <a:t>, </a:t>
            </a:r>
            <a:r>
              <a:rPr dirty="0" err="1"/>
              <a:t>ambientais</a:t>
            </a:r>
            <a:r>
              <a:rPr dirty="0"/>
              <a:t>, </a:t>
            </a:r>
            <a:r>
              <a:rPr dirty="0" err="1"/>
              <a:t>econômicos</a:t>
            </a:r>
            <a:r>
              <a:rPr dirty="0"/>
              <a:t>, </a:t>
            </a:r>
            <a:r>
              <a:rPr dirty="0" err="1"/>
              <a:t>produtivos</a:t>
            </a:r>
            <a:r>
              <a:rPr dirty="0"/>
              <a:t>, </a:t>
            </a:r>
            <a:r>
              <a:rPr dirty="0" err="1"/>
              <a:t>comunicação</a:t>
            </a:r>
            <a:r>
              <a:rPr dirty="0"/>
              <a:t> e </a:t>
            </a:r>
            <a:r>
              <a:rPr dirty="0" err="1"/>
              <a:t>suporte</a:t>
            </a:r>
            <a:r>
              <a:rPr dirty="0"/>
              <a:t> </a:t>
            </a:r>
            <a:r>
              <a:rPr dirty="0" err="1"/>
              <a:t>administrativo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5"/>
                </a:solidFill>
                <a:latin typeface="Aptos Display"/>
              </a:rPr>
              <a:t>Banco de dados e inteligência territorial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07592"/>
            <a:ext cx="10972800" cy="18288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6E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2239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Fontes: bases </a:t>
            </a:r>
            <a:r>
              <a:rPr dirty="0" err="1"/>
              <a:t>oficiais</a:t>
            </a:r>
            <a:r>
              <a:rPr dirty="0"/>
              <a:t>, </a:t>
            </a:r>
            <a:r>
              <a:rPr dirty="0" err="1"/>
              <a:t>pesquisas</a:t>
            </a:r>
            <a:r>
              <a:rPr dirty="0"/>
              <a:t> </a:t>
            </a:r>
            <a:r>
              <a:rPr dirty="0" err="1"/>
              <a:t>acadêmicas</a:t>
            </a:r>
            <a:r>
              <a:rPr dirty="0"/>
              <a:t>, dados de campo, </a:t>
            </a:r>
            <a:r>
              <a:rPr dirty="0" err="1"/>
              <a:t>organizações</a:t>
            </a:r>
            <a:r>
              <a:rPr dirty="0"/>
              <a:t> </a:t>
            </a:r>
            <a:r>
              <a:rPr dirty="0" err="1"/>
              <a:t>sociais</a:t>
            </a:r>
            <a:r>
              <a:rPr dirty="0"/>
              <a:t> e </a:t>
            </a:r>
            <a:r>
              <a:rPr dirty="0" err="1"/>
              <a:t>instituições</a:t>
            </a:r>
            <a:r>
              <a:rPr dirty="0"/>
              <a:t> </a:t>
            </a:r>
            <a:r>
              <a:rPr dirty="0" err="1"/>
              <a:t>parceiras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 err="1"/>
              <a:t>Tratamento</a:t>
            </a:r>
            <a:r>
              <a:rPr dirty="0"/>
              <a:t>: </a:t>
            </a:r>
            <a:r>
              <a:rPr dirty="0" err="1"/>
              <a:t>sistematização</a:t>
            </a:r>
            <a:r>
              <a:rPr dirty="0"/>
              <a:t>, </a:t>
            </a:r>
            <a:r>
              <a:rPr dirty="0" err="1"/>
              <a:t>limpeza</a:t>
            </a:r>
            <a:r>
              <a:rPr dirty="0"/>
              <a:t>, </a:t>
            </a:r>
            <a:r>
              <a:rPr dirty="0" err="1"/>
              <a:t>classificação</a:t>
            </a:r>
            <a:r>
              <a:rPr dirty="0"/>
              <a:t>, </a:t>
            </a:r>
            <a:r>
              <a:rPr dirty="0" err="1"/>
              <a:t>padronização</a:t>
            </a:r>
            <a:r>
              <a:rPr dirty="0"/>
              <a:t> de </a:t>
            </a:r>
            <a:r>
              <a:rPr dirty="0" err="1"/>
              <a:t>variáveis</a:t>
            </a:r>
            <a:r>
              <a:rPr dirty="0"/>
              <a:t> e </a:t>
            </a:r>
            <a:r>
              <a:rPr dirty="0" err="1"/>
              <a:t>metadados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 err="1"/>
              <a:t>Validação</a:t>
            </a:r>
            <a:r>
              <a:rPr dirty="0"/>
              <a:t>: </a:t>
            </a:r>
            <a:r>
              <a:rPr dirty="0" err="1"/>
              <a:t>consistência</a:t>
            </a:r>
            <a:r>
              <a:rPr dirty="0"/>
              <a:t>, </a:t>
            </a:r>
            <a:r>
              <a:rPr dirty="0" err="1"/>
              <a:t>confiabilidade</a:t>
            </a:r>
            <a:r>
              <a:rPr dirty="0"/>
              <a:t>, </a:t>
            </a:r>
            <a:r>
              <a:rPr dirty="0" err="1"/>
              <a:t>procedência</a:t>
            </a:r>
            <a:r>
              <a:rPr dirty="0"/>
              <a:t> e </a:t>
            </a:r>
            <a:r>
              <a:rPr dirty="0" err="1"/>
              <a:t>armazenamento</a:t>
            </a:r>
            <a:r>
              <a:rPr dirty="0"/>
              <a:t> </a:t>
            </a:r>
            <a:r>
              <a:rPr dirty="0" err="1"/>
              <a:t>seguro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 err="1"/>
              <a:t>Análise</a:t>
            </a:r>
            <a:r>
              <a:rPr dirty="0"/>
              <a:t>: </a:t>
            </a:r>
            <a:r>
              <a:rPr dirty="0" err="1"/>
              <a:t>cruzamentos</a:t>
            </a:r>
            <a:r>
              <a:rPr dirty="0"/>
              <a:t>, </a:t>
            </a:r>
            <a:r>
              <a:rPr dirty="0" err="1"/>
              <a:t>estatística</a:t>
            </a:r>
            <a:r>
              <a:rPr dirty="0"/>
              <a:t>, </a:t>
            </a:r>
            <a:r>
              <a:rPr dirty="0" err="1"/>
              <a:t>georreferenciamento</a:t>
            </a:r>
            <a:r>
              <a:rPr dirty="0"/>
              <a:t> e </a:t>
            </a:r>
            <a:r>
              <a:rPr dirty="0" err="1"/>
              <a:t>interpretação</a:t>
            </a:r>
            <a:r>
              <a:rPr dirty="0"/>
              <a:t> territorial.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 err="1"/>
              <a:t>Produtos</a:t>
            </a:r>
            <a:r>
              <a:rPr dirty="0"/>
              <a:t>: </a:t>
            </a:r>
            <a:r>
              <a:rPr dirty="0" err="1"/>
              <a:t>indicadores</a:t>
            </a:r>
            <a:r>
              <a:rPr dirty="0"/>
              <a:t>, </a:t>
            </a:r>
            <a:r>
              <a:rPr dirty="0" err="1"/>
              <a:t>mapas</a:t>
            </a:r>
            <a:r>
              <a:rPr dirty="0"/>
              <a:t>, </a:t>
            </a:r>
            <a:r>
              <a:rPr dirty="0" err="1"/>
              <a:t>gráficos</a:t>
            </a:r>
            <a:r>
              <a:rPr dirty="0"/>
              <a:t>, </a:t>
            </a:r>
            <a:r>
              <a:rPr dirty="0" err="1"/>
              <a:t>quadros</a:t>
            </a:r>
            <a:r>
              <a:rPr dirty="0"/>
              <a:t> e </a:t>
            </a:r>
            <a:r>
              <a:rPr dirty="0" err="1"/>
              <a:t>diagnósticos</a:t>
            </a:r>
            <a:r>
              <a:rPr dirty="0"/>
              <a:t> </a:t>
            </a:r>
            <a:r>
              <a:rPr dirty="0" err="1"/>
              <a:t>territoriais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 err="1"/>
              <a:t>Critério-chave</a:t>
            </a:r>
            <a:r>
              <a:rPr dirty="0"/>
              <a:t>: </a:t>
            </a:r>
            <a:r>
              <a:rPr dirty="0" err="1"/>
              <a:t>qualidade</a:t>
            </a:r>
            <a:r>
              <a:rPr dirty="0"/>
              <a:t>, </a:t>
            </a:r>
            <a:r>
              <a:rPr dirty="0" err="1"/>
              <a:t>consistência</a:t>
            </a:r>
            <a:r>
              <a:rPr dirty="0"/>
              <a:t> e </a:t>
            </a:r>
            <a:r>
              <a:rPr dirty="0" err="1"/>
              <a:t>rastreabilidade</a:t>
            </a:r>
            <a:r>
              <a:rPr dirty="0"/>
              <a:t> das </a:t>
            </a:r>
            <a:r>
              <a:rPr dirty="0" err="1"/>
              <a:t>informações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5"/>
                </a:solidFill>
                <a:latin typeface="Aptos Display"/>
              </a:rPr>
              <a:t>Produtos e públicos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07592"/>
            <a:ext cx="10972800" cy="18288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6E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dirty="0" err="1"/>
              <a:t>Produtos</a:t>
            </a:r>
            <a:r>
              <a:rPr dirty="0"/>
              <a:t> </a:t>
            </a:r>
            <a:r>
              <a:rPr dirty="0" err="1"/>
              <a:t>técnico-científicos</a:t>
            </a:r>
            <a:r>
              <a:rPr dirty="0"/>
              <a:t>: </a:t>
            </a:r>
            <a:r>
              <a:rPr dirty="0" err="1"/>
              <a:t>boletins</a:t>
            </a:r>
            <a:r>
              <a:rPr dirty="0"/>
              <a:t>, </a:t>
            </a:r>
            <a:r>
              <a:rPr dirty="0" err="1"/>
              <a:t>relatórios</a:t>
            </a:r>
            <a:r>
              <a:rPr dirty="0"/>
              <a:t>, </a:t>
            </a:r>
            <a:r>
              <a:rPr dirty="0" err="1"/>
              <a:t>notas</a:t>
            </a:r>
            <a:r>
              <a:rPr dirty="0"/>
              <a:t> </a:t>
            </a:r>
            <a:r>
              <a:rPr dirty="0" err="1"/>
              <a:t>técnicas</a:t>
            </a:r>
            <a:r>
              <a:rPr dirty="0"/>
              <a:t>, </a:t>
            </a:r>
            <a:r>
              <a:rPr dirty="0" err="1"/>
              <a:t>artigos</a:t>
            </a:r>
            <a:r>
              <a:rPr dirty="0"/>
              <a:t> e </a:t>
            </a:r>
            <a:r>
              <a:rPr dirty="0" err="1"/>
              <a:t>diagnósticos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dirty="0" err="1"/>
              <a:t>Produtos</a:t>
            </a:r>
            <a:r>
              <a:rPr dirty="0"/>
              <a:t> </a:t>
            </a:r>
            <a:r>
              <a:rPr dirty="0" err="1"/>
              <a:t>territoriais</a:t>
            </a:r>
            <a:r>
              <a:rPr dirty="0"/>
              <a:t>: </a:t>
            </a:r>
            <a:r>
              <a:rPr dirty="0" err="1"/>
              <a:t>mapas</a:t>
            </a:r>
            <a:r>
              <a:rPr dirty="0"/>
              <a:t>, </a:t>
            </a:r>
            <a:r>
              <a:rPr dirty="0" err="1"/>
              <a:t>indicadores</a:t>
            </a:r>
            <a:r>
              <a:rPr dirty="0"/>
              <a:t>, </a:t>
            </a:r>
            <a:r>
              <a:rPr dirty="0" err="1"/>
              <a:t>análises</a:t>
            </a:r>
            <a:r>
              <a:rPr dirty="0"/>
              <a:t> </a:t>
            </a:r>
            <a:r>
              <a:rPr dirty="0" err="1"/>
              <a:t>espaciais</a:t>
            </a:r>
            <a:r>
              <a:rPr dirty="0"/>
              <a:t> e </a:t>
            </a:r>
            <a:r>
              <a:rPr dirty="0" err="1"/>
              <a:t>painéis</a:t>
            </a:r>
            <a:r>
              <a:rPr dirty="0"/>
              <a:t> </a:t>
            </a:r>
            <a:r>
              <a:rPr dirty="0" err="1"/>
              <a:t>interativos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dirty="0" err="1"/>
              <a:t>Produtos</a:t>
            </a:r>
            <a:r>
              <a:rPr dirty="0"/>
              <a:t> de </a:t>
            </a:r>
            <a:r>
              <a:rPr dirty="0" err="1"/>
              <a:t>comunicação</a:t>
            </a:r>
            <a:r>
              <a:rPr dirty="0"/>
              <a:t>: </a:t>
            </a:r>
            <a:r>
              <a:rPr dirty="0" err="1"/>
              <a:t>infográficos</a:t>
            </a:r>
            <a:r>
              <a:rPr dirty="0"/>
              <a:t>, releases, </a:t>
            </a:r>
            <a:r>
              <a:rPr dirty="0" err="1"/>
              <a:t>conteúdos</a:t>
            </a:r>
            <a:r>
              <a:rPr dirty="0"/>
              <a:t> </a:t>
            </a:r>
            <a:r>
              <a:rPr dirty="0" err="1"/>
              <a:t>educativos</a:t>
            </a:r>
            <a:r>
              <a:rPr dirty="0"/>
              <a:t>, redes </a:t>
            </a:r>
            <a:r>
              <a:rPr dirty="0" err="1"/>
              <a:t>sociais</a:t>
            </a:r>
            <a:r>
              <a:rPr dirty="0"/>
              <a:t> e newsletters.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dirty="0"/>
              <a:t>Plataforma digital: consulta e </a:t>
            </a:r>
            <a:r>
              <a:rPr dirty="0" err="1"/>
              <a:t>visualização</a:t>
            </a:r>
            <a:r>
              <a:rPr dirty="0"/>
              <a:t> de dados </a:t>
            </a:r>
            <a:r>
              <a:rPr dirty="0" err="1"/>
              <a:t>previamente</a:t>
            </a:r>
            <a:r>
              <a:rPr dirty="0"/>
              <a:t> </a:t>
            </a:r>
            <a:r>
              <a:rPr dirty="0" err="1"/>
              <a:t>validados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dirty="0" err="1"/>
              <a:t>Públicos</a:t>
            </a:r>
            <a:r>
              <a:rPr dirty="0"/>
              <a:t>: </a:t>
            </a:r>
            <a:r>
              <a:rPr dirty="0" err="1"/>
              <a:t>sociedade</a:t>
            </a:r>
            <a:r>
              <a:rPr dirty="0"/>
              <a:t> civil, comunidades e </a:t>
            </a:r>
            <a:r>
              <a:rPr dirty="0" err="1"/>
              <a:t>grupos</a:t>
            </a:r>
            <a:r>
              <a:rPr dirty="0"/>
              <a:t> </a:t>
            </a:r>
            <a:r>
              <a:rPr dirty="0" err="1"/>
              <a:t>afetados</a:t>
            </a:r>
            <a:r>
              <a:rPr dirty="0"/>
              <a:t>, </a:t>
            </a:r>
            <a:r>
              <a:rPr dirty="0" err="1"/>
              <a:t>instituições</a:t>
            </a:r>
            <a:r>
              <a:rPr dirty="0"/>
              <a:t> </a:t>
            </a:r>
            <a:r>
              <a:rPr dirty="0" err="1"/>
              <a:t>públicas</a:t>
            </a:r>
            <a:r>
              <a:rPr dirty="0"/>
              <a:t>, </a:t>
            </a:r>
            <a:r>
              <a:rPr dirty="0" err="1"/>
              <a:t>pesquisadores</a:t>
            </a:r>
            <a:r>
              <a:rPr dirty="0"/>
              <a:t>, redes de </a:t>
            </a:r>
            <a:r>
              <a:rPr dirty="0" err="1"/>
              <a:t>defesa</a:t>
            </a:r>
            <a:r>
              <a:rPr dirty="0"/>
              <a:t> de </a:t>
            </a:r>
            <a:r>
              <a:rPr dirty="0" err="1"/>
              <a:t>direitos</a:t>
            </a:r>
            <a:r>
              <a:rPr dirty="0"/>
              <a:t> e </a:t>
            </a:r>
            <a:r>
              <a:rPr dirty="0" err="1"/>
              <a:t>formuladores</a:t>
            </a:r>
            <a:r>
              <a:rPr dirty="0"/>
              <a:t> de </a:t>
            </a:r>
            <a:r>
              <a:rPr dirty="0" err="1"/>
              <a:t>políticas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5"/>
                </a:solidFill>
                <a:latin typeface="Aptos Display"/>
              </a:rPr>
              <a:t>Monitoramento e avaliação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96E"/>
                </a:solidFill>
                <a:latin typeface="Aptos"/>
              </a:rPr>
              <a:t>O Plano é concebido como instrumento dinâmico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10972800" cy="18288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6E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69848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dirty="0" err="1"/>
              <a:t>Reuniões</a:t>
            </a:r>
            <a:r>
              <a:rPr dirty="0"/>
              <a:t> de </a:t>
            </a:r>
            <a:r>
              <a:rPr dirty="0" err="1"/>
              <a:t>coordenação</a:t>
            </a:r>
            <a:r>
              <a:rPr dirty="0"/>
              <a:t>: </a:t>
            </a:r>
            <a:r>
              <a:rPr dirty="0" err="1"/>
              <a:t>mensais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dirty="0" err="1"/>
              <a:t>Reuniões</a:t>
            </a:r>
            <a:r>
              <a:rPr dirty="0"/>
              <a:t> </a:t>
            </a:r>
            <a:r>
              <a:rPr dirty="0" err="1"/>
              <a:t>técnicas</a:t>
            </a:r>
            <a:r>
              <a:rPr dirty="0"/>
              <a:t>: </a:t>
            </a:r>
            <a:r>
              <a:rPr dirty="0" err="1"/>
              <a:t>quinzenais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conforme</a:t>
            </a:r>
            <a:r>
              <a:rPr dirty="0"/>
              <a:t> </a:t>
            </a:r>
            <a:r>
              <a:rPr dirty="0" err="1"/>
              <a:t>demanda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dirty="0" err="1"/>
              <a:t>Relatórios</a:t>
            </a:r>
            <a:r>
              <a:rPr dirty="0"/>
              <a:t> </a:t>
            </a:r>
            <a:r>
              <a:rPr dirty="0" err="1"/>
              <a:t>internos</a:t>
            </a:r>
            <a:r>
              <a:rPr dirty="0"/>
              <a:t> de </a:t>
            </a:r>
            <a:r>
              <a:rPr dirty="0" err="1"/>
              <a:t>acompanhamento</a:t>
            </a:r>
            <a:r>
              <a:rPr dirty="0"/>
              <a:t>: </a:t>
            </a:r>
            <a:r>
              <a:rPr dirty="0" err="1"/>
              <a:t>trimestrais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dirty="0" err="1"/>
              <a:t>Dimensões</a:t>
            </a:r>
            <a:r>
              <a:rPr dirty="0"/>
              <a:t> </a:t>
            </a:r>
            <a:r>
              <a:rPr dirty="0" err="1"/>
              <a:t>avaliadas</a:t>
            </a:r>
            <a:r>
              <a:rPr dirty="0"/>
              <a:t>: </a:t>
            </a:r>
            <a:r>
              <a:rPr dirty="0" err="1"/>
              <a:t>gestão</a:t>
            </a:r>
            <a:r>
              <a:rPr dirty="0"/>
              <a:t>, banco de dados, </a:t>
            </a:r>
            <a:r>
              <a:rPr dirty="0" err="1"/>
              <a:t>produção</a:t>
            </a:r>
            <a:r>
              <a:rPr dirty="0"/>
              <a:t> </a:t>
            </a:r>
            <a:r>
              <a:rPr dirty="0" err="1"/>
              <a:t>científica</a:t>
            </a:r>
            <a:r>
              <a:rPr dirty="0"/>
              <a:t>, </a:t>
            </a:r>
            <a:r>
              <a:rPr dirty="0" err="1"/>
              <a:t>inteligência</a:t>
            </a:r>
            <a:r>
              <a:rPr dirty="0"/>
              <a:t> territorial, </a:t>
            </a:r>
            <a:r>
              <a:rPr dirty="0" err="1"/>
              <a:t>plataforma</a:t>
            </a:r>
            <a:r>
              <a:rPr dirty="0"/>
              <a:t>, </a:t>
            </a:r>
            <a:r>
              <a:rPr dirty="0" err="1"/>
              <a:t>comunicação</a:t>
            </a:r>
            <a:r>
              <a:rPr dirty="0"/>
              <a:t> e </a:t>
            </a:r>
            <a:r>
              <a:rPr dirty="0" err="1"/>
              <a:t>articulação</a:t>
            </a:r>
            <a:r>
              <a:rPr dirty="0"/>
              <a:t> </a:t>
            </a:r>
            <a:r>
              <a:rPr dirty="0" err="1"/>
              <a:t>institucional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dirty="0"/>
              <a:t>O </a:t>
            </a:r>
            <a:r>
              <a:rPr dirty="0" err="1"/>
              <a:t>ciclo</a:t>
            </a:r>
            <a:r>
              <a:rPr dirty="0"/>
              <a:t> de </a:t>
            </a:r>
            <a:r>
              <a:rPr dirty="0" err="1"/>
              <a:t>avaliação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revisar</a:t>
            </a:r>
            <a:r>
              <a:rPr dirty="0"/>
              <a:t> </a:t>
            </a:r>
            <a:r>
              <a:rPr dirty="0" err="1"/>
              <a:t>prioridades</a:t>
            </a:r>
            <a:r>
              <a:rPr dirty="0"/>
              <a:t>, </a:t>
            </a:r>
            <a:r>
              <a:rPr dirty="0" err="1"/>
              <a:t>métodos</a:t>
            </a:r>
            <a:r>
              <a:rPr dirty="0"/>
              <a:t>, </a:t>
            </a:r>
            <a:r>
              <a:rPr dirty="0" err="1"/>
              <a:t>produtos</a:t>
            </a:r>
            <a:r>
              <a:rPr dirty="0"/>
              <a:t> e </a:t>
            </a:r>
            <a:r>
              <a:rPr dirty="0" err="1"/>
              <a:t>estratégias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longo</a:t>
            </a:r>
            <a:r>
              <a:rPr dirty="0"/>
              <a:t> da </a:t>
            </a:r>
            <a:r>
              <a:rPr dirty="0" err="1"/>
              <a:t>execução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5"/>
                </a:solidFill>
                <a:latin typeface="Aptos Display"/>
              </a:rPr>
              <a:t>Dimensões transversais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10972800" cy="18288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6E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Racismo ambiental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Justiça climática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Gênero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Raça e pertencimento étnico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Classe social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Desigualdade territorial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59" y="1737360"/>
            <a:ext cx="7077259" cy="2526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dirty="0" err="1"/>
              <a:t>Pergunta</a:t>
            </a:r>
            <a:r>
              <a:rPr dirty="0"/>
              <a:t> </a:t>
            </a:r>
            <a:r>
              <a:rPr dirty="0" err="1"/>
              <a:t>analítica</a:t>
            </a:r>
            <a:r>
              <a:rPr dirty="0"/>
              <a:t> transversal:</a:t>
            </a:r>
          </a:p>
          <a:p>
            <a:pPr marL="742950" lvl="1" indent="-285750"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  <a:latin typeface="Aptos"/>
              </a:defRPr>
            </a:pPr>
            <a:r>
              <a:rPr dirty="0"/>
              <a:t>Quais </a:t>
            </a:r>
            <a:r>
              <a:rPr dirty="0" err="1"/>
              <a:t>grupos</a:t>
            </a:r>
            <a:r>
              <a:rPr dirty="0"/>
              <a:t> </a:t>
            </a:r>
            <a:r>
              <a:rPr dirty="0" err="1"/>
              <a:t>estão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expostos</a:t>
            </a:r>
            <a:r>
              <a:rPr dirty="0"/>
              <a:t> </a:t>
            </a:r>
            <a:r>
              <a:rPr dirty="0" err="1"/>
              <a:t>aos</a:t>
            </a:r>
            <a:r>
              <a:rPr dirty="0"/>
              <a:t> </a:t>
            </a:r>
            <a:r>
              <a:rPr dirty="0" err="1"/>
              <a:t>danos</a:t>
            </a:r>
            <a:r>
              <a:rPr dirty="0"/>
              <a:t> </a:t>
            </a:r>
            <a:r>
              <a:rPr dirty="0" err="1"/>
              <a:t>socioambientais</a:t>
            </a:r>
            <a:r>
              <a:rPr dirty="0"/>
              <a:t>?</a:t>
            </a:r>
          </a:p>
          <a:p>
            <a:pPr marL="742950" lvl="1" indent="-285750"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  <a:latin typeface="Aptos"/>
              </a:defRPr>
            </a:pPr>
            <a:r>
              <a:rPr dirty="0"/>
              <a:t>Quais </a:t>
            </a:r>
            <a:r>
              <a:rPr dirty="0" err="1"/>
              <a:t>recebem</a:t>
            </a:r>
            <a:r>
              <a:rPr dirty="0"/>
              <a:t> </a:t>
            </a:r>
            <a:r>
              <a:rPr dirty="0" err="1"/>
              <a:t>menor</a:t>
            </a:r>
            <a:r>
              <a:rPr dirty="0"/>
              <a:t> </a:t>
            </a:r>
            <a:r>
              <a:rPr dirty="0" err="1"/>
              <a:t>proteção</a:t>
            </a:r>
            <a:r>
              <a:rPr dirty="0"/>
              <a:t> </a:t>
            </a:r>
            <a:r>
              <a:rPr dirty="0" err="1"/>
              <a:t>pública</a:t>
            </a:r>
            <a:r>
              <a:rPr dirty="0"/>
              <a:t>?</a:t>
            </a:r>
          </a:p>
          <a:p>
            <a:pPr marL="742950" lvl="1" indent="-285750"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  <a:latin typeface="Aptos"/>
              </a:defRPr>
            </a:pPr>
            <a:r>
              <a:rPr dirty="0"/>
              <a:t>Como </a:t>
            </a:r>
            <a:r>
              <a:rPr dirty="0" err="1"/>
              <a:t>riscos</a:t>
            </a:r>
            <a:r>
              <a:rPr dirty="0"/>
              <a:t>, </a:t>
            </a:r>
            <a:r>
              <a:rPr dirty="0" err="1"/>
              <a:t>danos</a:t>
            </a:r>
            <a:r>
              <a:rPr dirty="0"/>
              <a:t> e </a:t>
            </a:r>
            <a:r>
              <a:rPr dirty="0" err="1"/>
              <a:t>violações</a:t>
            </a:r>
            <a:r>
              <a:rPr dirty="0"/>
              <a:t> se </a:t>
            </a:r>
            <a:r>
              <a:rPr dirty="0" err="1"/>
              <a:t>distribuem</a:t>
            </a:r>
            <a:r>
              <a:rPr dirty="0"/>
              <a:t> </a:t>
            </a:r>
            <a:r>
              <a:rPr dirty="0" err="1"/>
              <a:t>desigualmente</a:t>
            </a:r>
            <a:r>
              <a:rPr dirty="0"/>
              <a:t> no </a:t>
            </a:r>
            <a:r>
              <a:rPr dirty="0" err="1"/>
              <a:t>território</a:t>
            </a:r>
            <a:r>
              <a:rPr dirty="0"/>
              <a:t>?</a:t>
            </a:r>
            <a:endParaRPr lang="pt-BR" dirty="0"/>
          </a:p>
          <a:p>
            <a:pPr lvl="1">
              <a:spcAft>
                <a:spcPts val="500"/>
              </a:spcAft>
              <a:defRPr sz="1600">
                <a:solidFill>
                  <a:srgbClr val="232323"/>
                </a:solidFill>
                <a:latin typeface="Aptos"/>
              </a:defRPr>
            </a:pPr>
            <a:endParaRPr dirty="0"/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Aptos"/>
              </a:defRPr>
            </a:pPr>
            <a:r>
              <a:rPr dirty="0"/>
              <a:t>Essa </a:t>
            </a:r>
            <a:r>
              <a:rPr dirty="0" err="1"/>
              <a:t>leitura</a:t>
            </a:r>
            <a:r>
              <a:rPr dirty="0"/>
              <a:t> impede </a:t>
            </a:r>
            <a:r>
              <a:rPr dirty="0" err="1"/>
              <a:t>análises</a:t>
            </a:r>
            <a:r>
              <a:rPr dirty="0"/>
              <a:t> </a:t>
            </a:r>
            <a:r>
              <a:rPr dirty="0" err="1"/>
              <a:t>fragmentadas</a:t>
            </a:r>
            <a:r>
              <a:rPr dirty="0"/>
              <a:t> e </a:t>
            </a:r>
            <a:r>
              <a:rPr dirty="0" err="1"/>
              <a:t>conecta</a:t>
            </a:r>
            <a:r>
              <a:rPr dirty="0"/>
              <a:t> </a:t>
            </a:r>
            <a:r>
              <a:rPr dirty="0" err="1"/>
              <a:t>conflito</a:t>
            </a:r>
            <a:r>
              <a:rPr dirty="0"/>
              <a:t>, </a:t>
            </a:r>
            <a:r>
              <a:rPr dirty="0" err="1"/>
              <a:t>território</a:t>
            </a:r>
            <a:r>
              <a:rPr dirty="0"/>
              <a:t> e </a:t>
            </a:r>
            <a:r>
              <a:rPr dirty="0" err="1"/>
              <a:t>direitos</a:t>
            </a:r>
            <a:r>
              <a:rPr dirty="0"/>
              <a:t> </a:t>
            </a:r>
            <a:r>
              <a:rPr dirty="0" err="1"/>
              <a:t>humanos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5"/>
                </a:solidFill>
                <a:latin typeface="Aptos Display"/>
              </a:rPr>
              <a:t>Resultado esperado: um Observatório permanente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07592"/>
            <a:ext cx="10972800" cy="18288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6E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 err="1"/>
              <a:t>Consolidar</a:t>
            </a:r>
            <a:r>
              <a:rPr dirty="0"/>
              <a:t> um </a:t>
            </a:r>
            <a:r>
              <a:rPr dirty="0" err="1"/>
              <a:t>espaço</a:t>
            </a:r>
            <a:r>
              <a:rPr dirty="0"/>
              <a:t> </a:t>
            </a:r>
            <a:r>
              <a:rPr dirty="0" err="1"/>
              <a:t>permanente</a:t>
            </a:r>
            <a:r>
              <a:rPr dirty="0"/>
              <a:t> de </a:t>
            </a:r>
            <a:r>
              <a:rPr dirty="0" err="1"/>
              <a:t>produção</a:t>
            </a:r>
            <a:r>
              <a:rPr dirty="0"/>
              <a:t>, </a:t>
            </a:r>
            <a:r>
              <a:rPr dirty="0" err="1"/>
              <a:t>sistematização</a:t>
            </a:r>
            <a:r>
              <a:rPr dirty="0"/>
              <a:t> e </a:t>
            </a:r>
            <a:r>
              <a:rPr dirty="0" err="1"/>
              <a:t>difusão</a:t>
            </a:r>
            <a:r>
              <a:rPr dirty="0"/>
              <a:t> de </a:t>
            </a:r>
            <a:r>
              <a:rPr dirty="0" err="1"/>
              <a:t>informações</a:t>
            </a:r>
            <a:r>
              <a:rPr dirty="0"/>
              <a:t> </a:t>
            </a:r>
            <a:r>
              <a:rPr dirty="0" err="1"/>
              <a:t>estratégicas</a:t>
            </a:r>
            <a:r>
              <a:rPr dirty="0"/>
              <a:t>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 err="1"/>
              <a:t>Qualificar</a:t>
            </a:r>
            <a:r>
              <a:rPr dirty="0"/>
              <a:t> o debate </a:t>
            </a:r>
            <a:r>
              <a:rPr dirty="0" err="1"/>
              <a:t>público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conflitos</a:t>
            </a:r>
            <a:r>
              <a:rPr dirty="0"/>
              <a:t> </a:t>
            </a:r>
            <a:r>
              <a:rPr dirty="0" err="1"/>
              <a:t>socioambientais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Porto Velho.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 err="1"/>
              <a:t>Fortalecer</a:t>
            </a:r>
            <a:r>
              <a:rPr dirty="0"/>
              <a:t> </a:t>
            </a:r>
            <a:r>
              <a:rPr dirty="0" err="1"/>
              <a:t>iniciativas</a:t>
            </a:r>
            <a:r>
              <a:rPr dirty="0"/>
              <a:t> de </a:t>
            </a:r>
            <a:r>
              <a:rPr dirty="0" err="1"/>
              <a:t>justiça</a:t>
            </a:r>
            <a:r>
              <a:rPr dirty="0"/>
              <a:t> </a:t>
            </a:r>
            <a:r>
              <a:rPr dirty="0" err="1"/>
              <a:t>climática</a:t>
            </a:r>
            <a:r>
              <a:rPr dirty="0"/>
              <a:t> e </a:t>
            </a:r>
            <a:r>
              <a:rPr dirty="0" err="1"/>
              <a:t>efetivação</a:t>
            </a:r>
            <a:r>
              <a:rPr dirty="0"/>
              <a:t> dos </a:t>
            </a:r>
            <a:r>
              <a:rPr dirty="0" err="1"/>
              <a:t>direitos</a:t>
            </a:r>
            <a:r>
              <a:rPr dirty="0"/>
              <a:t> </a:t>
            </a:r>
            <a:r>
              <a:rPr dirty="0" err="1"/>
              <a:t>humanos</a:t>
            </a:r>
            <a:r>
              <a:rPr dirty="0"/>
              <a:t>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 err="1"/>
              <a:t>Produzir</a:t>
            </a:r>
            <a:r>
              <a:rPr dirty="0"/>
              <a:t> </a:t>
            </a:r>
            <a:r>
              <a:rPr dirty="0" err="1"/>
              <a:t>evidências</a:t>
            </a:r>
            <a:r>
              <a:rPr dirty="0"/>
              <a:t> </a:t>
            </a:r>
            <a:r>
              <a:rPr dirty="0" err="1"/>
              <a:t>capazes</a:t>
            </a:r>
            <a:r>
              <a:rPr dirty="0"/>
              <a:t> de </a:t>
            </a:r>
            <a:r>
              <a:rPr dirty="0" err="1"/>
              <a:t>apoiar</a:t>
            </a:r>
            <a:r>
              <a:rPr dirty="0"/>
              <a:t> </a:t>
            </a:r>
            <a:r>
              <a:rPr dirty="0" err="1"/>
              <a:t>formulação</a:t>
            </a:r>
            <a:r>
              <a:rPr dirty="0"/>
              <a:t>, </a:t>
            </a:r>
            <a:r>
              <a:rPr dirty="0" err="1"/>
              <a:t>monitoramento</a:t>
            </a:r>
            <a:r>
              <a:rPr dirty="0"/>
              <a:t> e </a:t>
            </a:r>
            <a:r>
              <a:rPr dirty="0" err="1"/>
              <a:t>avaliação</a:t>
            </a:r>
            <a:r>
              <a:rPr dirty="0"/>
              <a:t> de </a:t>
            </a:r>
            <a:r>
              <a:rPr dirty="0" err="1"/>
              <a:t>políticas</a:t>
            </a:r>
            <a:r>
              <a:rPr dirty="0"/>
              <a:t> </a:t>
            </a:r>
            <a:r>
              <a:rPr dirty="0" err="1"/>
              <a:t>públicas</a:t>
            </a:r>
            <a:r>
              <a:rPr dirty="0"/>
              <a:t>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/>
              <a:t>Articular </a:t>
            </a:r>
            <a:r>
              <a:rPr dirty="0" err="1"/>
              <a:t>universidade</a:t>
            </a:r>
            <a:r>
              <a:rPr dirty="0"/>
              <a:t>, </a:t>
            </a:r>
            <a:r>
              <a:rPr dirty="0" err="1"/>
              <a:t>instituições</a:t>
            </a:r>
            <a:r>
              <a:rPr dirty="0"/>
              <a:t> </a:t>
            </a:r>
            <a:r>
              <a:rPr dirty="0" err="1"/>
              <a:t>públicas</a:t>
            </a:r>
            <a:r>
              <a:rPr dirty="0"/>
              <a:t> e </a:t>
            </a:r>
            <a:r>
              <a:rPr dirty="0" err="1"/>
              <a:t>sociedade</a:t>
            </a:r>
            <a:r>
              <a:rPr dirty="0"/>
              <a:t> civil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torno</a:t>
            </a:r>
            <a:r>
              <a:rPr dirty="0"/>
              <a:t> de </a:t>
            </a:r>
            <a:r>
              <a:rPr dirty="0" err="1"/>
              <a:t>diagnósticos</a:t>
            </a:r>
            <a:r>
              <a:rPr dirty="0"/>
              <a:t> </a:t>
            </a:r>
            <a:r>
              <a:rPr dirty="0" err="1"/>
              <a:t>territorializados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5"/>
                </a:solidFill>
                <a:latin typeface="Aptos Display"/>
              </a:rPr>
              <a:t>Os 5 eixos estratégicos do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96E"/>
                </a:solidFill>
                <a:latin typeface="Aptos"/>
              </a:rPr>
              <a:t>Estrutura finalística do monitoramento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10972800" cy="18288"/>
          </a:xfrm>
          <a:prstGeom prst="rect">
            <a:avLst/>
          </a:prstGeom>
          <a:solidFill>
            <a:srgbClr val="EE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96E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14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627631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42B45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581912"/>
            <a:ext cx="3931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32323"/>
                </a:solidFill>
              </a:rPr>
              <a:t>Conflitos Agrários,
Fundiários e Territoriais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1627631"/>
            <a:ext cx="5669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96E"/>
                </a:solidFill>
              </a:rPr>
              <a:t>terra • território • ocupações • despejos • grilagem • regularização fundiária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50592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14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569464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42B45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23744"/>
            <a:ext cx="3931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32323"/>
                </a:solidFill>
              </a:rPr>
              <a:t>Pressões Ambientais,
Mudanças Climáticas e Justiça Climática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569464"/>
            <a:ext cx="5669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96E"/>
                </a:solidFill>
              </a:rPr>
              <a:t>desmatamento • queimadas • degradação • extremos climáticos • água • contaminação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392424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14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511296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42B45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465576"/>
            <a:ext cx="3931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32323"/>
                </a:solidFill>
              </a:rPr>
              <a:t>Violências, Segurança Pública
e Defesa dos Direitos Humanos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3511296"/>
            <a:ext cx="5669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96E"/>
                </a:solidFill>
              </a:rPr>
              <a:t>ameaças • agressões • homicídios • criminalização • violência institucional • defensores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334256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14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445312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42B45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407408"/>
            <a:ext cx="3931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32323"/>
                </a:solidFill>
              </a:rPr>
              <a:t>Dinâmicas Econômicas, Produtivas
e Conflitos Socioambientais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4453128"/>
            <a:ext cx="5669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96E"/>
                </a:solidFill>
              </a:rPr>
              <a:t>agropecuária • mineração • exploração florestal • infraestrutura • empreendimentos • cadeias produtivas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276088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14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5394959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42B45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349240"/>
            <a:ext cx="3931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32323"/>
                </a:solidFill>
              </a:rPr>
              <a:t>Respostas Institucionais e Políticas
Públicas nos Territórios em Conflito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5394959"/>
            <a:ext cx="5669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96E"/>
                </a:solidFill>
              </a:rPr>
              <a:t>presença/ausência do Estado • prevenção • proteção • reparação • garantia de direitos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1012</Words>
  <Application>Microsoft Office PowerPoint</Application>
  <PresentationFormat>Widescreen</PresentationFormat>
  <Paragraphs>119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Luciana Riça Mourão Borges</cp:lastModifiedBy>
  <cp:revision>4</cp:revision>
  <dcterms:created xsi:type="dcterms:W3CDTF">2013-01-27T09:14:16Z</dcterms:created>
  <dcterms:modified xsi:type="dcterms:W3CDTF">2026-08-27T20:52:11Z</dcterms:modified>
  <cp:category/>
</cp:coreProperties>
</file>